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3" r:id="rId6"/>
    <p:sldId id="265" r:id="rId7"/>
    <p:sldId id="260" r:id="rId8"/>
    <p:sldId id="264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88C6"/>
    <a:srgbClr val="E1EBF5"/>
    <a:srgbClr val="48CCD2"/>
    <a:srgbClr val="588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2F243C-F0C0-46EB-71CE-034F7C7A9B5E}" v="912" dt="2026-08-17T09:54:08.826"/>
    <p1510:client id="{BBBB90D8-4337-11D6-B690-D9060DEA6DA1}" v="297" dt="2026-08-17T09:42:28.760"/>
    <p1510:client id="{D94966FE-4C21-7B10-44EF-4DD4B6431B48}" v="233" dt="2026-08-17T09:24:46.6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F8732E21-F355-4EB8-B1F4-10AAC8489703}" type="datetimeFigureOut">
              <a:rPr lang="ar-EG" smtClean="0"/>
              <a:t>04/03/1448</a:t>
            </a:fld>
            <a:endParaRPr lang="ar-E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r-E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C04066C7-E5B0-4F2C-9CCC-E6352E7823B9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839349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066C7-E5B0-4F2C-9CCC-E6352E7823B9}" type="slidenum">
              <a:rPr lang="ar-EG" smtClean="0"/>
              <a:t>1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2230708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066C7-E5B0-4F2C-9CCC-E6352E7823B9}" type="slidenum">
              <a:rPr lang="ar-EG" smtClean="0"/>
              <a:t>2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184654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9223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5F8FC"/>
                </a:solidFill>
              </a:defRPr>
            </a:pPr>
            <a:r>
              <a:t>SMART RECRUITMENT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26463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48CCD2"/>
                </a:solidFill>
              </a:defRPr>
            </a:pPr>
            <a:r>
              <a:rPr lang="en-US"/>
              <a:t>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83080" y="2086583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1EBF5"/>
                </a:solidFill>
              </a:defRPr>
            </a:pPr>
            <a:r>
              <a:t>AI-Powered Candidate Screening &amp; Ranking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2635223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FBE"/>
                </a:solidFill>
              </a:defRPr>
            </a:pPr>
            <a:r>
              <a:t>Graduation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A0AFBE"/>
                </a:solidFill>
              </a:defRPr>
            </a:pPr>
            <a:r>
              <a:t>Smart Recruitment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36009" y="3160536"/>
            <a:ext cx="6048772" cy="12618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/>
            </a:pPr>
            <a:r>
              <a:rPr sz="1900">
                <a:solidFill>
                  <a:srgbClr val="E1EBF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TEAM MEMBERS</a:t>
            </a:r>
          </a:p>
          <a:p>
            <a:pPr algn="ctr">
              <a:defRPr sz="1150" b="1"/>
            </a:pPr>
            <a:r>
              <a:rPr lang="ar-EG" sz="1900">
                <a:solidFill>
                  <a:srgbClr val="E1EBF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• </a:t>
            </a:r>
            <a:r>
              <a:rPr sz="1900">
                <a:solidFill>
                  <a:srgbClr val="E1EBF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Sama </a:t>
            </a:r>
            <a:r>
              <a:rPr sz="1900">
                <a:solidFill>
                  <a:srgbClr val="E1EBF5"/>
                </a:solidFill>
              </a:rPr>
              <a:t>Abdelsalam</a:t>
            </a:r>
            <a:r>
              <a:rPr sz="1900">
                <a:solidFill>
                  <a:srgbClr val="E1EBF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•  Yasseen Mohamed•  Bassem Yasser</a:t>
            </a:r>
          </a:p>
          <a:p>
            <a:pPr algn="ctr">
              <a:defRPr sz="1150" b="1"/>
            </a:pPr>
            <a:r>
              <a:rPr lang="ar-EG" sz="1900">
                <a:solidFill>
                  <a:srgbClr val="E1EBF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• </a:t>
            </a:r>
            <a:r>
              <a:rPr sz="1900">
                <a:solidFill>
                  <a:srgbClr val="E1EBF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Mohamed Ali •  </a:t>
            </a:r>
            <a:r>
              <a:rPr sz="1600">
                <a:solidFill>
                  <a:srgbClr val="E1EBF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Mazen</a:t>
            </a:r>
            <a:r>
              <a:rPr sz="1900">
                <a:solidFill>
                  <a:srgbClr val="E1EBF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Mohamed</a:t>
            </a:r>
          </a:p>
          <a:p>
            <a:pPr algn="ctr">
              <a:defRPr sz="1100"/>
            </a:pPr>
            <a:r>
              <a:rPr sz="1900" b="1">
                <a:solidFill>
                  <a:srgbClr val="E1EBF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Instructor: Dr. Raheeq Ayman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30065"/>
            <a:ext cx="10386617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</a:defRPr>
            </a:pPr>
            <a:r>
              <a:rPr sz="3200"/>
              <a:t>Problem</a:t>
            </a:r>
            <a:endParaRPr lang="en-US" sz="3200">
              <a:ea typeface="Calibri"/>
              <a:cs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89920" y="43891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48CCD2"/>
                </a:solidFill>
              </a:defRPr>
            </a:pPr>
            <a:r>
              <a:t>02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9029" y="2363687"/>
            <a:ext cx="2584933" cy="2186514"/>
          </a:xfrm>
          <a:prstGeom prst="roundRect">
            <a:avLst/>
          </a:prstGeom>
          <a:solidFill>
            <a:srgbClr val="142841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41980" y="2859800"/>
            <a:ext cx="2130106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600" b="1">
                <a:solidFill>
                  <a:srgbClr val="2E91D2"/>
                </a:solidFill>
              </a:defRPr>
            </a:pPr>
            <a:r>
              <a:t>01 </a:t>
            </a:r>
            <a:r>
              <a:rPr lang="en-US"/>
              <a:t>Training</a:t>
            </a:r>
            <a:r>
              <a:rPr lang="en-US">
                <a:ea typeface="+mn-lt"/>
                <a:cs typeface="+mn-lt"/>
              </a:rPr>
              <a:t> Investment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941980" y="3302091"/>
            <a:ext cx="2130106" cy="66941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250" b="0">
                <a:solidFill>
                  <a:srgbClr val="E1EBF5"/>
                </a:solidFill>
              </a:defRPr>
            </a:pPr>
            <a:r>
              <a:rPr lang="en-US" sz="1250">
                <a:solidFill>
                  <a:srgbClr val="E1EBF5"/>
                </a:solidFill>
                <a:ea typeface="+mn-lt"/>
                <a:cs typeface="+mn-lt"/>
              </a:rPr>
              <a:t>Large numbers of candidate profiles can make initial screening time-consuming.</a:t>
            </a:r>
            <a:r>
              <a:rPr lang="en-US" sz="1250">
                <a:solidFill>
                  <a:srgbClr val="E1EBF5"/>
                </a:solidFill>
                <a:latin typeface="Calibri"/>
                <a:ea typeface="Calibri"/>
                <a:cs typeface="Calibri"/>
              </a:rPr>
              <a:t> 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438292" y="2363687"/>
            <a:ext cx="2523150" cy="2186514"/>
          </a:xfrm>
          <a:prstGeom prst="roundRect">
            <a:avLst/>
          </a:prstGeom>
          <a:solidFill>
            <a:srgbClr val="142841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39460" y="2839206"/>
            <a:ext cx="2130106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600" b="1">
                <a:solidFill>
                  <a:srgbClr val="2E91D2"/>
                </a:solidFill>
              </a:defRPr>
            </a:pPr>
            <a:r>
              <a:rPr lang="en-US"/>
              <a:t>02  MANUAL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9460" y="3299077"/>
            <a:ext cx="2130106" cy="66941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250" b="0">
                <a:solidFill>
                  <a:srgbClr val="E1EBF5"/>
                </a:solidFill>
              </a:defRPr>
            </a:pPr>
            <a:r>
              <a:rPr lang="en-US">
                <a:ea typeface="+mn-lt"/>
                <a:cs typeface="+mn-lt"/>
              </a:rPr>
              <a:t>Manual review may require significant effort and consistent criteria.</a:t>
            </a:r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6097598" y="2363687"/>
            <a:ext cx="2561324" cy="2185508"/>
          </a:xfrm>
          <a:prstGeom prst="roundRect">
            <a:avLst/>
          </a:prstGeom>
          <a:solidFill>
            <a:srgbClr val="142841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16345" y="2859800"/>
            <a:ext cx="2130106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600" b="1">
                <a:solidFill>
                  <a:srgbClr val="2E91D2"/>
                </a:solidFill>
              </a:defRPr>
            </a:pPr>
            <a:r>
              <a:t>03 </a:t>
            </a:r>
            <a:r>
              <a:rPr lang="en-US"/>
              <a:t> PRIORITY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16345" y="3299077"/>
            <a:ext cx="2130106" cy="66941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250" b="0">
                <a:solidFill>
                  <a:srgbClr val="E1EBF5"/>
                </a:solidFill>
              </a:defRPr>
            </a:pPr>
            <a:r>
              <a:rPr lang="en-US">
                <a:ea typeface="+mn-lt"/>
                <a:cs typeface="+mn-lt"/>
              </a:rPr>
              <a:t>Recruiters need a way to prioritize candidates for further review.</a:t>
            </a:r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8833252" y="2363687"/>
            <a:ext cx="2591211" cy="2176216"/>
          </a:xfrm>
          <a:prstGeom prst="roundRect">
            <a:avLst/>
          </a:prstGeom>
          <a:solidFill>
            <a:srgbClr val="142841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55015" y="2859801"/>
            <a:ext cx="21301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91D2"/>
                </a:solidFill>
              </a:defRPr>
            </a:pPr>
            <a:r>
              <a:t>04 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2636" y="3299077"/>
            <a:ext cx="2130106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E1EBF5"/>
                </a:solidFill>
              </a:defRPr>
            </a:pPr>
            <a:r>
              <a:t>Use machine learning to provide a data-driven screening signal.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34" y="5443654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8CCD2"/>
                </a:solidFill>
              </a:defRPr>
            </a:pPr>
            <a:r>
              <a:t>Goal: Support recruiters — not replace human decisions.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A0AFBE"/>
                </a:solidFill>
              </a:defRPr>
            </a:pPr>
            <a:r>
              <a:t>Smart Recruitment Assistant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E6AF8036-230E-B1CC-E980-AE82E0AA01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53962" y="2230395"/>
            <a:ext cx="739346" cy="790833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2FEA58B9-7503-6C15-8286-74EA02CC36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73254" y="2359892"/>
            <a:ext cx="452583" cy="556491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9384CCAF-245A-839F-D28B-9F200D5104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0073" y="2406074"/>
            <a:ext cx="718128" cy="591129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34B87B48-802B-F67B-5F41-A911F8C8AE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10983" y="2406073"/>
            <a:ext cx="591127" cy="5911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9875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</a:defRPr>
            </a:pPr>
            <a:r>
              <a:rPr lang="en-US" sz="3200"/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43891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48CCD2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8CCD2"/>
                </a:solidFill>
              </a:defRPr>
            </a:pPr>
            <a:r>
              <a:t>HR Analytics: Job Change of Data Scientists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4094"/>
            <a:ext cx="2560320" cy="1187605"/>
          </a:xfrm>
          <a:prstGeom prst="roundRect">
            <a:avLst/>
          </a:prstGeom>
          <a:solidFill>
            <a:srgbClr val="142841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2538686"/>
            <a:ext cx="2157984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600" b="1">
                <a:solidFill>
                  <a:srgbClr val="2E91D2"/>
                </a:solidFill>
              </a:defRPr>
            </a:pPr>
            <a:r>
              <a:rPr lang="en-US"/>
              <a:t>20,000+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2688" y="3032462"/>
            <a:ext cx="21579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E1EBF5"/>
                </a:solidFill>
              </a:defRPr>
            </a:pPr>
            <a:r>
              <a:t>Training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374094"/>
            <a:ext cx="2560320" cy="1187605"/>
          </a:xfrm>
          <a:prstGeom prst="roundRect">
            <a:avLst/>
          </a:prstGeom>
          <a:solidFill>
            <a:srgbClr val="142841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75887" y="2538686"/>
            <a:ext cx="21579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91D2"/>
                </a:solidFill>
              </a:defRPr>
            </a:pPr>
            <a: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5887" y="3032462"/>
            <a:ext cx="21579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E1EBF5"/>
                </a:solidFill>
              </a:defRPr>
            </a:pPr>
            <a:r>
              <a:t>Original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374094"/>
            <a:ext cx="2560320" cy="1187605"/>
          </a:xfrm>
          <a:prstGeom prst="roundRect">
            <a:avLst/>
          </a:prstGeom>
          <a:solidFill>
            <a:srgbClr val="142841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2538686"/>
            <a:ext cx="2157984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600" b="1">
                <a:solidFill>
                  <a:srgbClr val="2E91D2"/>
                </a:solidFill>
              </a:defRPr>
            </a:pPr>
            <a:r>
              <a:rPr lang="en-US">
                <a:ea typeface="Calibri"/>
                <a:cs typeface="Calibri"/>
              </a:rPr>
              <a:t>8000+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3032462"/>
            <a:ext cx="2157984" cy="28469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250" b="0">
                <a:solidFill>
                  <a:srgbClr val="E1EBF5"/>
                </a:solidFill>
              </a:defRPr>
            </a:pPr>
            <a:r>
              <a:rPr lang="en-US"/>
              <a:t>Null rows</a:t>
            </a:r>
            <a:r>
              <a:t> detected</a:t>
            </a:r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8961120" y="2374094"/>
            <a:ext cx="2560320" cy="1187605"/>
          </a:xfrm>
          <a:prstGeom prst="roundRect">
            <a:avLst/>
          </a:prstGeom>
          <a:solidFill>
            <a:srgbClr val="142841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62288" y="2538686"/>
            <a:ext cx="21579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91D2"/>
                </a:solidFill>
              </a:defRPr>
            </a:pPr>
            <a:r>
              <a:t>3.01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62288" y="3032462"/>
            <a:ext cx="21579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E1EBF5"/>
                </a:solidFill>
              </a:defRPr>
            </a:pPr>
            <a:r>
              <a:t>Approx. class imbalance ratio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3484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8FC"/>
                </a:solidFill>
              </a:defRPr>
            </a:pPr>
            <a:r>
              <a:t>Examples of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9834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E1EBF5"/>
                </a:solidFill>
              </a:defRPr>
            </a:pPr>
            <a:r>
              <a:t>Education  •  Experience  •  Company Information  •  City  •  Training Hours  •  Gender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7150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8CCD2"/>
                </a:solidFill>
              </a:defRPr>
            </a:pPr>
            <a:r>
              <a:t>Target: Job Change / No Job Change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A0AFBE"/>
                </a:solidFill>
              </a:defRPr>
            </a:pPr>
            <a:r>
              <a:t>Smart Recruitment Assistant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9875520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</a:defRPr>
            </a:pPr>
            <a:r>
              <a:rPr sz="3200"/>
              <a:t>Approach</a:t>
            </a:r>
            <a:endParaRPr lang="en-US" sz="3200">
              <a:ea typeface="Calibri"/>
              <a:cs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89920" y="43891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48CCD2"/>
                </a:solidFill>
              </a:defRPr>
            </a:pPr>
            <a:r>
              <a:t>04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352164"/>
            <a:ext cx="1691640" cy="1270124"/>
          </a:xfrm>
          <a:prstGeom prst="roundRect">
            <a:avLst/>
          </a:prstGeom>
          <a:solidFill>
            <a:srgbClr val="142841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86968" y="2516756"/>
            <a:ext cx="12893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91D2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010532"/>
            <a:ext cx="1289304" cy="28469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250" b="0">
                <a:solidFill>
                  <a:srgbClr val="E1EBF5"/>
                </a:solidFill>
              </a:defRPr>
            </a:pPr>
            <a:r>
              <a:rPr lang="en-US"/>
              <a:t>EDA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2352164"/>
            <a:ext cx="1691640" cy="1270124"/>
          </a:xfrm>
          <a:prstGeom prst="roundRect">
            <a:avLst/>
          </a:prstGeom>
          <a:solidFill>
            <a:srgbClr val="142841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61488" y="2516756"/>
            <a:ext cx="12893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91D2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488" y="3010532"/>
            <a:ext cx="1289304" cy="28469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250" b="0">
                <a:solidFill>
                  <a:srgbClr val="E1EBF5"/>
                </a:solidFill>
              </a:defRPr>
            </a:pPr>
            <a:r>
              <a:rPr lang="en-US">
                <a:ea typeface="Calibri"/>
                <a:cs typeface="Calibri"/>
              </a:rPr>
              <a:t>Data Cleaning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352164"/>
            <a:ext cx="1691640" cy="1270124"/>
          </a:xfrm>
          <a:prstGeom prst="roundRect">
            <a:avLst/>
          </a:prstGeom>
          <a:solidFill>
            <a:srgbClr val="142841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6007" y="2516756"/>
            <a:ext cx="12893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91D2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3010532"/>
            <a:ext cx="128930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E1EBF5"/>
                </a:solidFill>
              </a:defRPr>
            </a:pPr>
            <a:r>
              <a:t>Feature Encoding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2352164"/>
            <a:ext cx="1691640" cy="1270124"/>
          </a:xfrm>
          <a:prstGeom prst="roundRect">
            <a:avLst/>
          </a:prstGeom>
          <a:solidFill>
            <a:srgbClr val="142841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0527" y="2516756"/>
            <a:ext cx="12893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91D2"/>
                </a:solidFill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7" y="3010532"/>
            <a:ext cx="128930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E1EBF5"/>
                </a:solidFill>
              </a:defRPr>
            </a:pPr>
            <a:r>
              <a:t>Model Training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2352164"/>
            <a:ext cx="1691640" cy="1270124"/>
          </a:xfrm>
          <a:prstGeom prst="roundRect">
            <a:avLst/>
          </a:prstGeom>
          <a:solidFill>
            <a:srgbClr val="142841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85048" y="2516756"/>
            <a:ext cx="12893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91D2"/>
                </a:solidFill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3010532"/>
            <a:ext cx="128930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E1EBF5"/>
                </a:solidFill>
              </a:defRPr>
            </a:pPr>
            <a:r>
              <a:t>Evaluation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2352164"/>
            <a:ext cx="1691640" cy="1270124"/>
          </a:xfrm>
          <a:prstGeom prst="roundRect">
            <a:avLst/>
          </a:prstGeom>
          <a:solidFill>
            <a:srgbClr val="142841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59568" y="2516756"/>
            <a:ext cx="12893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91D2"/>
                </a:solidFill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59568" y="3010532"/>
            <a:ext cx="128930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E1EBF5"/>
                </a:solidFill>
              </a:defRPr>
            </a:pPr>
            <a:r>
              <a:t>Candidate Ranking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5262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8CCD2"/>
                </a:solidFill>
              </a:defRPr>
            </a:pPr>
            <a:r>
              <a:t>Models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0292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F8FC"/>
                </a:solidFill>
              </a:defRPr>
            </a:pPr>
            <a:r>
              <a:t>Logistic Regression   •   Random Forest   •   XGBoost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6692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1EBF5"/>
                </a:solidFill>
              </a:defRPr>
            </a:pPr>
            <a:r>
              <a:t>Stratified 5-Fold Cross Validation + Hyperparameter Tuning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73952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A0AFBE"/>
                </a:solidFill>
              </a:defRPr>
            </a:pPr>
            <a:r>
              <a:t>Smart Recruitment Assistant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A937F9-69EE-6A31-505E-BB089C16B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E9B5A8-CFEE-E372-7278-1CE35C457E6F}"/>
              </a:ext>
            </a:extLst>
          </p:cNvPr>
          <p:cNvSpPr txBox="1"/>
          <p:nvPr/>
        </p:nvSpPr>
        <p:spPr>
          <a:xfrm>
            <a:off x="640080" y="411480"/>
            <a:ext cx="9875520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F5F8FC"/>
                </a:solidFill>
              </a:defRPr>
            </a:pPr>
            <a:r>
              <a:rPr lang="en-US" sz="3200">
                <a:ea typeface="Calibri"/>
                <a:cs typeface="Calibri"/>
              </a:rPr>
              <a:t>Dataset Preprocessing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7B87F5-4C46-33F7-044D-8AEF80C782A1}"/>
              </a:ext>
            </a:extLst>
          </p:cNvPr>
          <p:cNvSpPr txBox="1"/>
          <p:nvPr/>
        </p:nvSpPr>
        <p:spPr>
          <a:xfrm>
            <a:off x="10789920" y="438912"/>
            <a:ext cx="640080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>
              <a:defRPr sz="1200" b="1">
                <a:solidFill>
                  <a:srgbClr val="48CCD2"/>
                </a:solidFill>
              </a:defRPr>
            </a:pPr>
            <a:r>
              <a:rPr lang="en-US"/>
              <a:t>05</a:t>
            </a: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D7BE57-AAF3-4B1D-C85E-C4BF8A1C99EC}"/>
              </a:ext>
            </a:extLst>
          </p:cNvPr>
          <p:cNvSpPr txBox="1"/>
          <p:nvPr/>
        </p:nvSpPr>
        <p:spPr>
          <a:xfrm>
            <a:off x="317763" y="1309249"/>
            <a:ext cx="5806219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600" b="1">
                <a:solidFill>
                  <a:srgbClr val="2E91D2"/>
                </a:solidFill>
              </a:defRPr>
            </a:pPr>
            <a:r>
              <a:t>01</a:t>
            </a:r>
            <a:r>
              <a:rPr lang="en-US"/>
              <a:t>   </a:t>
            </a:r>
            <a:r>
              <a:rPr lang="en-US">
                <a:solidFill>
                  <a:schemeClr val="accent1"/>
                </a:solidFill>
              </a:rPr>
              <a:t> </a:t>
            </a:r>
            <a:r>
              <a:rPr lang="en-US">
                <a:solidFill>
                  <a:schemeClr val="accent1"/>
                </a:solidFill>
                <a:ea typeface="+mn-lt"/>
                <a:cs typeface="+mn-lt"/>
              </a:rPr>
              <a:t>Data Cleaning &amp; Feature Transformation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C45AE4-0D7E-D584-BCE5-C8E60CDE6B49}"/>
              </a:ext>
            </a:extLst>
          </p:cNvPr>
          <p:cNvSpPr txBox="1"/>
          <p:nvPr/>
        </p:nvSpPr>
        <p:spPr>
          <a:xfrm>
            <a:off x="220080" y="4118550"/>
            <a:ext cx="4456652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600" b="1">
                <a:solidFill>
                  <a:srgbClr val="2E91D2"/>
                </a:solidFill>
              </a:defRPr>
            </a:pPr>
            <a:r>
              <a:rPr lang="en-US"/>
              <a:t>02      </a:t>
            </a:r>
            <a:r>
              <a:rPr lang="en-US">
                <a:ea typeface="+mn-lt"/>
                <a:cs typeface="+mn-lt"/>
              </a:rPr>
              <a:t>Categorical Encoding</a:t>
            </a: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5F7914-BBB2-D65A-486A-7C4DB8150358}"/>
              </a:ext>
            </a:extLst>
          </p:cNvPr>
          <p:cNvSpPr txBox="1"/>
          <p:nvPr/>
        </p:nvSpPr>
        <p:spPr>
          <a:xfrm>
            <a:off x="1193934" y="5189621"/>
            <a:ext cx="105156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800" b="1">
                <a:solidFill>
                  <a:srgbClr val="F5F8FC"/>
                </a:solidFill>
              </a:defRPr>
            </a:pPr>
            <a:r>
              <a:rPr lang="en-US"/>
              <a:t> 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67736F-1A34-DA44-E5CA-AE0E95EF4010}"/>
              </a:ext>
            </a:extLst>
          </p:cNvPr>
          <p:cNvSpPr txBox="1"/>
          <p:nvPr/>
        </p:nvSpPr>
        <p:spPr>
          <a:xfrm>
            <a:off x="554907" y="1642299"/>
            <a:ext cx="11217008" cy="26468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Missing Value Imputation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endParaRPr lang="en-US" b="1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ea typeface="+mn-lt"/>
                <a:cs typeface="+mn-lt"/>
              </a:rPr>
              <a:t>We Filled missing numerical fields using the </a:t>
            </a:r>
            <a:r>
              <a:rPr lang="en-US" sz="1600" b="1">
                <a:solidFill>
                  <a:schemeClr val="bg1"/>
                </a:solidFill>
                <a:ea typeface="+mn-lt"/>
                <a:cs typeface="+mn-lt"/>
              </a:rPr>
              <a:t>Median</a:t>
            </a:r>
            <a:r>
              <a:rPr lang="en-US" sz="1600">
                <a:solidFill>
                  <a:schemeClr val="bg1"/>
                </a:solidFill>
                <a:ea typeface="+mn-lt"/>
                <a:cs typeface="+mn-lt"/>
              </a:rPr>
              <a:t> and missing categorical values with the label </a:t>
            </a:r>
            <a:r>
              <a:rPr lang="en-US" sz="1600" b="1">
                <a:solidFill>
                  <a:schemeClr val="bg1"/>
                </a:solidFill>
                <a:ea typeface="+mn-lt"/>
                <a:cs typeface="+mn-lt"/>
              </a:rPr>
              <a:t>"Unknown"</a:t>
            </a:r>
            <a:r>
              <a:rPr lang="en-US" sz="160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en-US" sz="160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US" sz="160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ea typeface="+mn-lt"/>
                <a:cs typeface="+mn-lt"/>
              </a:rPr>
              <a:t> Machine learning algorithms cannot handle null/blank cells.</a:t>
            </a:r>
          </a:p>
          <a:p>
            <a:pPr marL="285750" indent="-285750">
              <a:buFont typeface="Arial"/>
              <a:buChar char="•"/>
            </a:pPr>
            <a:endParaRPr lang="en-US" sz="160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ea typeface="+mn-lt"/>
                <a:cs typeface="+mn-lt"/>
              </a:rPr>
              <a:t>The </a:t>
            </a:r>
            <a:r>
              <a:rPr lang="en-US" sz="1600" i="1">
                <a:solidFill>
                  <a:schemeClr val="bg1"/>
                </a:solidFill>
                <a:ea typeface="+mn-lt"/>
                <a:cs typeface="+mn-lt"/>
              </a:rPr>
              <a:t>Median</a:t>
            </a:r>
            <a:r>
              <a:rPr lang="en-US" sz="1600">
                <a:solidFill>
                  <a:schemeClr val="bg1"/>
                </a:solidFill>
                <a:ea typeface="+mn-lt"/>
                <a:cs typeface="+mn-lt"/>
              </a:rPr>
              <a:t> was selected because it is robust against skewed distributions and extreme outliers (such as high training hours).</a:t>
            </a:r>
          </a:p>
          <a:p>
            <a:pPr marL="285750" indent="-285750">
              <a:buFont typeface="Arial"/>
              <a:buChar char="•"/>
            </a:pPr>
            <a:endParaRPr lang="en-US" sz="160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ea typeface="+mn-lt"/>
                <a:cs typeface="+mn-lt"/>
              </a:rPr>
              <a:t>The </a:t>
            </a:r>
            <a:r>
              <a:rPr lang="en-US" sz="1600" i="1">
                <a:solidFill>
                  <a:schemeClr val="bg1"/>
                </a:solidFill>
                <a:ea typeface="+mn-lt"/>
                <a:cs typeface="+mn-lt"/>
              </a:rPr>
              <a:t>"Unknown"</a:t>
            </a:r>
            <a:r>
              <a:rPr lang="en-US" sz="1600">
                <a:solidFill>
                  <a:schemeClr val="bg1"/>
                </a:solidFill>
                <a:ea typeface="+mn-lt"/>
                <a:cs typeface="+mn-lt"/>
              </a:rPr>
              <a:t> label treats missing categorical information as a distinct, potentially meaningful behavioral signal.</a:t>
            </a:r>
            <a:endParaRPr lang="en-US" sz="1600">
              <a:solidFill>
                <a:schemeClr val="bg1"/>
              </a:solidFill>
              <a:ea typeface="Calibri"/>
              <a:cs typeface="Calibri"/>
            </a:endParaRPr>
          </a:p>
          <a:p>
            <a:pPr algn="l"/>
            <a:endParaRPr lang="en-US"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8BC253-D0FB-A05A-42A2-2A6B7FF9AF27}"/>
              </a:ext>
            </a:extLst>
          </p:cNvPr>
          <p:cNvSpPr txBox="1"/>
          <p:nvPr/>
        </p:nvSpPr>
        <p:spPr>
          <a:xfrm>
            <a:off x="561567" y="4604714"/>
            <a:ext cx="1186883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ea typeface="+mn-lt"/>
                <a:cs typeface="+mn-lt"/>
              </a:rPr>
              <a:t>Converted text attributes into numerical values using </a:t>
            </a:r>
            <a:r>
              <a:rPr lang="en-US" sz="1600" b="1">
                <a:solidFill>
                  <a:schemeClr val="bg1"/>
                </a:solidFill>
                <a:ea typeface="+mn-lt"/>
                <a:cs typeface="+mn-lt"/>
              </a:rPr>
              <a:t>Ordinal Mapping</a:t>
            </a:r>
            <a:r>
              <a:rPr lang="en-US" sz="1600">
                <a:solidFill>
                  <a:schemeClr val="bg1"/>
                </a:solidFill>
                <a:ea typeface="+mn-lt"/>
                <a:cs typeface="+mn-lt"/>
              </a:rPr>
              <a:t> (e.g., Education Level, Experience) and </a:t>
            </a:r>
            <a:r>
              <a:rPr lang="en-US" sz="1600" b="1">
                <a:solidFill>
                  <a:schemeClr val="bg1"/>
                </a:solidFill>
                <a:ea typeface="+mn-lt"/>
                <a:cs typeface="+mn-lt"/>
              </a:rPr>
              <a:t>One-Hot Encoding</a:t>
            </a:r>
            <a:r>
              <a:rPr lang="en-US" sz="1600">
                <a:solidFill>
                  <a:schemeClr val="bg1"/>
                </a:solidFill>
                <a:ea typeface="+mn-lt"/>
                <a:cs typeface="+mn-lt"/>
              </a:rPr>
              <a:t> (e.g., Gender, Major Discipline).</a:t>
            </a:r>
            <a:endParaRPr lang="en-US" sz="1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AE0BFF-79B8-1079-0BDC-AA3D06D597D7}"/>
              </a:ext>
            </a:extLst>
          </p:cNvPr>
          <p:cNvSpPr txBox="1"/>
          <p:nvPr/>
        </p:nvSpPr>
        <p:spPr>
          <a:xfrm>
            <a:off x="553173" y="5229792"/>
            <a:ext cx="1144652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i="1">
                <a:solidFill>
                  <a:schemeClr val="bg1"/>
                </a:solidFill>
                <a:ea typeface="+mn-lt"/>
                <a:cs typeface="+mn-lt"/>
              </a:rPr>
              <a:t>Ordinal Encoding</a:t>
            </a:r>
            <a:r>
              <a:rPr lang="en-US" sz="1600">
                <a:solidFill>
                  <a:schemeClr val="bg1"/>
                </a:solidFill>
                <a:ea typeface="+mn-lt"/>
                <a:cs typeface="+mn-lt"/>
              </a:rPr>
              <a:t> preserves the natural ranking and hierarchy between levels (e.g., Ph.D. &gt; Masters &gt; Graduate).</a:t>
            </a:r>
            <a:endParaRPr lang="en-US" sz="1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583CFF-3822-B43F-6A45-1975E5667BC5}"/>
              </a:ext>
            </a:extLst>
          </p:cNvPr>
          <p:cNvSpPr txBox="1"/>
          <p:nvPr/>
        </p:nvSpPr>
        <p:spPr>
          <a:xfrm>
            <a:off x="562976" y="5679515"/>
            <a:ext cx="1051009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i="1">
                <a:solidFill>
                  <a:schemeClr val="bg1"/>
                </a:solidFill>
                <a:ea typeface="+mn-lt"/>
                <a:cs typeface="+mn-lt"/>
              </a:rPr>
              <a:t>One-Hot Encoding</a:t>
            </a:r>
            <a:r>
              <a:rPr lang="en-US" sz="1600">
                <a:solidFill>
                  <a:schemeClr val="bg1"/>
                </a:solidFill>
                <a:ea typeface="+mn-lt"/>
                <a:cs typeface="+mn-lt"/>
              </a:rPr>
              <a:t> creates independent binary columns to prevent models from assuming a false numeric order among nominal categories</a:t>
            </a:r>
            <a:endParaRPr lang="en-US" sz="160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98485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48B611-CEA4-3ACE-CF62-A3567EEB9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4837BB-0954-15AF-A93F-1D3BCCA2FF24}"/>
              </a:ext>
            </a:extLst>
          </p:cNvPr>
          <p:cNvSpPr txBox="1"/>
          <p:nvPr/>
        </p:nvSpPr>
        <p:spPr>
          <a:xfrm>
            <a:off x="640080" y="411480"/>
            <a:ext cx="9875520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F5F8FC"/>
                </a:solidFill>
              </a:defRPr>
            </a:pPr>
            <a:r>
              <a:rPr lang="en-US" sz="3200">
                <a:ea typeface="+mn-lt"/>
                <a:cs typeface="+mn-lt"/>
              </a:rPr>
              <a:t>Scaling, Selection &amp; Pipeline Integration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8232A0-7F76-10B4-8E7E-594EAEF7CC76}"/>
              </a:ext>
            </a:extLst>
          </p:cNvPr>
          <p:cNvSpPr txBox="1"/>
          <p:nvPr/>
        </p:nvSpPr>
        <p:spPr>
          <a:xfrm>
            <a:off x="10789920" y="438912"/>
            <a:ext cx="640080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>
              <a:defRPr sz="1200" b="1">
                <a:solidFill>
                  <a:srgbClr val="48CCD2"/>
                </a:solidFill>
              </a:defRPr>
            </a:pPr>
            <a:r>
              <a:rPr lang="en-US"/>
              <a:t>05</a:t>
            </a: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FC1DCA-39A2-5C62-338C-7E01F7239992}"/>
              </a:ext>
            </a:extLst>
          </p:cNvPr>
          <p:cNvSpPr txBox="1"/>
          <p:nvPr/>
        </p:nvSpPr>
        <p:spPr>
          <a:xfrm>
            <a:off x="317763" y="1309249"/>
            <a:ext cx="5806219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600" b="1">
                <a:solidFill>
                  <a:srgbClr val="2E91D2"/>
                </a:solidFill>
              </a:defRPr>
            </a:pPr>
            <a:r>
              <a:t>01</a:t>
            </a:r>
            <a:r>
              <a:rPr lang="en-US"/>
              <a:t>   </a:t>
            </a:r>
            <a:r>
              <a:rPr lang="en-US">
                <a:solidFill>
                  <a:schemeClr val="accent1"/>
                </a:solidFill>
              </a:rPr>
              <a:t> </a:t>
            </a:r>
            <a:r>
              <a:rPr lang="en-US">
                <a:solidFill>
                  <a:schemeClr val="accent1"/>
                </a:solidFill>
                <a:ea typeface="+mn-lt"/>
                <a:cs typeface="+mn-lt"/>
              </a:rPr>
              <a:t>Data Cleaning &amp; Feature Transformation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A81C9D-8ACE-EB28-F7D1-2EE97A9D2F8E}"/>
              </a:ext>
            </a:extLst>
          </p:cNvPr>
          <p:cNvSpPr txBox="1"/>
          <p:nvPr/>
        </p:nvSpPr>
        <p:spPr>
          <a:xfrm>
            <a:off x="220080" y="3879064"/>
            <a:ext cx="4456652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600" b="1">
                <a:solidFill>
                  <a:srgbClr val="2E91D2"/>
                </a:solidFill>
              </a:defRPr>
            </a:pPr>
            <a:r>
              <a:rPr lang="en-US"/>
              <a:t>02     </a:t>
            </a:r>
            <a:r>
              <a:rPr lang="en-US">
                <a:ea typeface="+mn-lt"/>
                <a:cs typeface="+mn-lt"/>
              </a:rPr>
              <a:t>Feature Selection &amp; Pipeline Encapsulation</a:t>
            </a: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F5DD1E-A84B-CDBB-28DA-829812283DDB}"/>
              </a:ext>
            </a:extLst>
          </p:cNvPr>
          <p:cNvSpPr txBox="1"/>
          <p:nvPr/>
        </p:nvSpPr>
        <p:spPr>
          <a:xfrm>
            <a:off x="1271944" y="5179595"/>
            <a:ext cx="105156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800" b="1">
                <a:solidFill>
                  <a:srgbClr val="F5F8FC"/>
                </a:solidFill>
              </a:defRPr>
            </a:pPr>
            <a:r>
              <a:rPr lang="en-US"/>
              <a:t> 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76BD81-7178-B3FE-6070-69D5FA7FB0BC}"/>
              </a:ext>
            </a:extLst>
          </p:cNvPr>
          <p:cNvSpPr txBox="1"/>
          <p:nvPr/>
        </p:nvSpPr>
        <p:spPr>
          <a:xfrm>
            <a:off x="554907" y="1642299"/>
            <a:ext cx="11217008" cy="21544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Feature Standardization</a:t>
            </a:r>
            <a:endParaRPr lang="en-US"/>
          </a:p>
          <a:p>
            <a:endParaRPr lang="en-US" b="1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ea typeface="+mn-lt"/>
                <a:cs typeface="+mn-lt"/>
              </a:rPr>
              <a:t>Applied </a:t>
            </a:r>
            <a:r>
              <a:rPr lang="en-US" sz="1600" b="1">
                <a:solidFill>
                  <a:schemeClr val="bg1"/>
                </a:solidFill>
                <a:ea typeface="+mn-lt"/>
                <a:cs typeface="+mn-lt"/>
              </a:rPr>
              <a:t>StandardScaler</a:t>
            </a:r>
            <a:r>
              <a:rPr lang="en-US" sz="1600">
                <a:solidFill>
                  <a:schemeClr val="bg1"/>
                </a:solidFill>
                <a:ea typeface="+mn-lt"/>
                <a:cs typeface="+mn-lt"/>
              </a:rPr>
              <a:t> to all numerical inputs to normalize their mean to 0 and variance to 1 </a:t>
            </a:r>
            <a:endParaRPr lang="en-US" sz="160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US" sz="160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ea typeface="+mn-lt"/>
                <a:cs typeface="+mn-lt"/>
              </a:rPr>
              <a:t> Variables existed on vastly different scales (e.g., City Development Index from 0 to 1 vs. Training Hours up to 300+). Scaling prevents high-magnitude features from disproportionately dominating model weights.</a:t>
            </a:r>
          </a:p>
          <a:p>
            <a:pPr marL="285750" indent="-285750">
              <a:buFont typeface="Arial"/>
              <a:buChar char="•"/>
            </a:pPr>
            <a:endParaRPr lang="en-US" sz="160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349AF6-BCEB-A50C-FA30-57C66EBC3CAD}"/>
              </a:ext>
            </a:extLst>
          </p:cNvPr>
          <p:cNvSpPr txBox="1"/>
          <p:nvPr/>
        </p:nvSpPr>
        <p:spPr>
          <a:xfrm>
            <a:off x="563377" y="4376974"/>
            <a:ext cx="1186883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ea typeface="+mn-lt"/>
                <a:cs typeface="+mn-lt"/>
              </a:rPr>
              <a:t>Used </a:t>
            </a:r>
            <a:r>
              <a:rPr lang="en-US" sz="1600" b="1">
                <a:solidFill>
                  <a:schemeClr val="bg1"/>
                </a:solidFill>
                <a:ea typeface="+mn-lt"/>
                <a:cs typeface="+mn-lt"/>
              </a:rPr>
              <a:t>SelectFromModel</a:t>
            </a:r>
            <a:r>
              <a:rPr lang="en-US" sz="1600">
                <a:solidFill>
                  <a:schemeClr val="bg1"/>
                </a:solidFill>
                <a:ea typeface="+mn-lt"/>
                <a:cs typeface="+mn-lt"/>
              </a:rPr>
              <a:t> with a tree-based estimator to drop the bottom 50% least informative features, bundling all preprocessing and model steps into a </a:t>
            </a:r>
            <a:r>
              <a:rPr lang="en-US" sz="1600" b="1">
                <a:solidFill>
                  <a:schemeClr val="bg1"/>
                </a:solidFill>
                <a:ea typeface="+mn-lt"/>
                <a:cs typeface="+mn-lt"/>
              </a:rPr>
              <a:t>scikit-learn Pipeline</a:t>
            </a:r>
            <a:r>
              <a:rPr lang="en-US" sz="1600">
                <a:solidFill>
                  <a:schemeClr val="bg1"/>
                </a:solidFill>
                <a:ea typeface="+mn-lt"/>
                <a:cs typeface="+mn-lt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7494B6-7489-556C-C9A5-C7BA3E1F7FE5}"/>
              </a:ext>
            </a:extLst>
          </p:cNvPr>
          <p:cNvSpPr txBox="1"/>
          <p:nvPr/>
        </p:nvSpPr>
        <p:spPr>
          <a:xfrm>
            <a:off x="556577" y="5176223"/>
            <a:ext cx="1144652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i="1">
                <a:solidFill>
                  <a:schemeClr val="bg1"/>
                </a:solidFill>
                <a:ea typeface="+mn-lt"/>
                <a:cs typeface="+mn-lt"/>
              </a:rPr>
              <a:t>Feature Selection</a:t>
            </a:r>
            <a:r>
              <a:rPr lang="en-US" sz="1600">
                <a:solidFill>
                  <a:schemeClr val="bg1"/>
                </a:solidFill>
                <a:ea typeface="+mn-lt"/>
                <a:cs typeface="+mn-lt"/>
              </a:rPr>
              <a:t> eliminates noise created by wide one-hot expansions, preventing overfitting and speeding up convergence.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A84F15-53DA-9B12-5472-9DC91EC08F39}"/>
              </a:ext>
            </a:extLst>
          </p:cNvPr>
          <p:cNvSpPr txBox="1"/>
          <p:nvPr/>
        </p:nvSpPr>
        <p:spPr>
          <a:xfrm>
            <a:off x="560755" y="5667896"/>
            <a:ext cx="1051009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i="1">
                <a:solidFill>
                  <a:schemeClr val="bg1"/>
                </a:solidFill>
                <a:ea typeface="+mn-lt"/>
                <a:cs typeface="+mn-lt"/>
              </a:rPr>
              <a:t>The Pipeline</a:t>
            </a:r>
            <a:r>
              <a:rPr lang="en-US" sz="1600">
                <a:solidFill>
                  <a:schemeClr val="bg1"/>
                </a:solidFill>
                <a:ea typeface="+mn-lt"/>
                <a:cs typeface="+mn-lt"/>
              </a:rPr>
              <a:t> guarantees strict </a:t>
            </a:r>
            <a:r>
              <a:rPr lang="en-US" sz="1600" b="1">
                <a:solidFill>
                  <a:schemeClr val="bg1"/>
                </a:solidFill>
                <a:ea typeface="+mn-lt"/>
                <a:cs typeface="+mn-lt"/>
              </a:rPr>
              <a:t>Data Leakage Prevention</a:t>
            </a:r>
            <a:r>
              <a:rPr lang="en-US" sz="1600">
                <a:solidFill>
                  <a:schemeClr val="bg1"/>
                </a:solidFill>
                <a:ea typeface="+mn-lt"/>
                <a:cs typeface="+mn-lt"/>
              </a:rPr>
              <a:t> by ensuring transformations are learned solely within training folds during cross-validation</a:t>
            </a:r>
            <a:endParaRPr lang="en-US" sz="160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51522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438912"/>
            <a:ext cx="640080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>
              <a:defRPr sz="1200" b="1">
                <a:solidFill>
                  <a:srgbClr val="48CCD2"/>
                </a:solidFill>
              </a:defRPr>
            </a:pPr>
            <a:r>
              <a:rPr lang="en-US"/>
              <a:t>06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6282" y="1372343"/>
            <a:ext cx="10698480" cy="369332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ctr">
              <a:defRPr sz="1800" b="1">
                <a:solidFill>
                  <a:srgbClr val="48CCD2"/>
                </a:solidFill>
              </a:defRPr>
            </a:pPr>
            <a:r>
              <a:t>ROC-AUC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965960"/>
            <a:ext cx="429768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600" b="0">
                <a:solidFill>
                  <a:srgbClr val="F5F8FC"/>
                </a:solidFill>
              </a:defRPr>
            </a:pPr>
            <a:r>
              <a:rPr b="1"/>
              <a:t>Logistic Regression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303520" y="1965960"/>
            <a:ext cx="4389120" cy="347472"/>
          </a:xfrm>
          <a:prstGeom prst="roundRect">
            <a:avLst/>
          </a:prstGeom>
          <a:solidFill>
            <a:srgbClr val="28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03520" y="1965960"/>
            <a:ext cx="3352622" cy="338179"/>
          </a:xfrm>
          <a:prstGeom prst="roundRect">
            <a:avLst/>
          </a:prstGeom>
          <a:solidFill>
            <a:srgbClr val="2E9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0" y="1938528"/>
            <a:ext cx="914400" cy="3231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>
              <a:defRPr sz="1500" b="1">
                <a:solidFill>
                  <a:srgbClr val="F5F8FC"/>
                </a:solidFill>
              </a:defRPr>
            </a:pPr>
            <a:r>
              <a:rPr lang="en-US"/>
              <a:t>0.7702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88720" y="2743200"/>
            <a:ext cx="429768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600" b="0">
                <a:solidFill>
                  <a:srgbClr val="F5F8FC"/>
                </a:solidFill>
              </a:defRPr>
            </a:pPr>
            <a:r>
              <a:rPr b="1"/>
              <a:t>Random Forest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303520" y="2743200"/>
            <a:ext cx="4389120" cy="347472"/>
          </a:xfrm>
          <a:prstGeom prst="roundRect">
            <a:avLst/>
          </a:prstGeom>
          <a:solidFill>
            <a:srgbClr val="28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303520" y="2743200"/>
            <a:ext cx="3513929" cy="347472"/>
          </a:xfrm>
          <a:prstGeom prst="roundRect">
            <a:avLst/>
          </a:prstGeom>
          <a:solidFill>
            <a:srgbClr val="2E9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75520" y="2715768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F5F8FC"/>
                </a:solidFill>
              </a:defRPr>
            </a:pPr>
            <a:r>
              <a:t>0.8006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429768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600" b="1">
                <a:solidFill>
                  <a:srgbClr val="F5F8FC"/>
                </a:solidFill>
              </a:defRPr>
            </a:pPr>
            <a:r>
              <a:t>XGBoost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303520" y="3520440"/>
            <a:ext cx="4389120" cy="347472"/>
          </a:xfrm>
          <a:prstGeom prst="roundRect">
            <a:avLst/>
          </a:prstGeom>
          <a:solidFill>
            <a:srgbClr val="28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303520" y="3520440"/>
            <a:ext cx="3524902" cy="347472"/>
          </a:xfrm>
          <a:prstGeom prst="roundRect">
            <a:avLst/>
          </a:prstGeom>
          <a:solidFill>
            <a:srgbClr val="48C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0" y="3493008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F5F8FC"/>
                </a:solidFill>
              </a:defRPr>
            </a:pPr>
            <a:r>
              <a:t>0.8031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20240" y="4526280"/>
            <a:ext cx="2377440" cy="1143000"/>
          </a:xfrm>
          <a:prstGeom prst="roundRect">
            <a:avLst/>
          </a:prstGeom>
          <a:solidFill>
            <a:srgbClr val="142841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121408" y="4690872"/>
            <a:ext cx="19751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8CCD2"/>
                </a:solidFill>
              </a:defRPr>
            </a:pPr>
            <a:r>
              <a:t>RECALL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21408" y="5184648"/>
            <a:ext cx="1975104" cy="28469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250" b="0">
                <a:solidFill>
                  <a:srgbClr val="E1EBF5"/>
                </a:solidFill>
              </a:defRPr>
            </a:pPr>
            <a:r>
              <a:rPr lang="en-US"/>
              <a:t>0.8150</a:t>
            </a:r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892040" y="4526280"/>
            <a:ext cx="2377440" cy="1143000"/>
          </a:xfrm>
          <a:prstGeom prst="roundRect">
            <a:avLst/>
          </a:prstGeom>
          <a:solidFill>
            <a:srgbClr val="142841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93207" y="4690872"/>
            <a:ext cx="19751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8CCD2"/>
                </a:solidFill>
              </a:defRPr>
            </a:pPr>
            <a:r>
              <a:t>F1-SCORE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93207" y="5184648"/>
            <a:ext cx="1975104" cy="28469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250" b="0">
                <a:solidFill>
                  <a:srgbClr val="E1EBF5"/>
                </a:solidFill>
              </a:defRPr>
            </a:pPr>
            <a:r>
              <a:rPr lang="en-US"/>
              <a:t>0.8534</a:t>
            </a:r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863840" y="4526280"/>
            <a:ext cx="2377440" cy="1143000"/>
          </a:xfrm>
          <a:prstGeom prst="roundRect">
            <a:avLst/>
          </a:prstGeom>
          <a:solidFill>
            <a:srgbClr val="142841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65008" y="4690872"/>
            <a:ext cx="19751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8CCD2"/>
                </a:solidFill>
              </a:defRPr>
            </a:pPr>
            <a:r>
              <a:t>BEST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65008" y="5184648"/>
            <a:ext cx="1975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E1EBF5"/>
                </a:solidFill>
              </a:defRPr>
            </a:pPr>
            <a:r>
              <a:t>XGBoost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73952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A0AFBE"/>
                </a:solidFill>
              </a:defRPr>
            </a:pPr>
            <a:r>
              <a:t>Smart Recruitment Assistant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BBB419-B402-EEA1-1208-565D50F2F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B610E3-A658-B033-2CCB-FC2335BF3604}"/>
              </a:ext>
            </a:extLst>
          </p:cNvPr>
          <p:cNvSpPr txBox="1"/>
          <p:nvPr/>
        </p:nvSpPr>
        <p:spPr>
          <a:xfrm>
            <a:off x="640080" y="41148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</a:defRPr>
            </a:pPr>
            <a:r>
              <a:t>Results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C3CF7C-FD8E-617C-E331-D413898EC5FB}"/>
              </a:ext>
            </a:extLst>
          </p:cNvPr>
          <p:cNvSpPr txBox="1"/>
          <p:nvPr/>
        </p:nvSpPr>
        <p:spPr>
          <a:xfrm>
            <a:off x="10789920" y="438912"/>
            <a:ext cx="640080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>
              <a:defRPr sz="1200" b="1">
                <a:solidFill>
                  <a:srgbClr val="48CCD2"/>
                </a:solidFill>
              </a:defRPr>
            </a:pPr>
            <a:r>
              <a:rPr lang="en-US"/>
              <a:t>07</a:t>
            </a: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2FA216-D651-C6DA-3530-6E533C23CC23}"/>
              </a:ext>
            </a:extLst>
          </p:cNvPr>
          <p:cNvSpPr txBox="1"/>
          <p:nvPr/>
        </p:nvSpPr>
        <p:spPr>
          <a:xfrm>
            <a:off x="747650" y="961264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8CCD2"/>
                </a:solidFill>
              </a:defRPr>
            </a:pPr>
            <a:r>
              <a:t>ROC-AUC Comparison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AD96A32-B41E-26D9-3D9A-06BBF23DAB4E}"/>
              </a:ext>
            </a:extLst>
          </p:cNvPr>
          <p:cNvSpPr txBox="1"/>
          <p:nvPr/>
        </p:nvSpPr>
        <p:spPr>
          <a:xfrm>
            <a:off x="660132" y="6453899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A0AFBE"/>
                </a:solidFill>
              </a:defRPr>
            </a:pPr>
            <a:r>
              <a:t>Smart Recruitment Assistant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CE72EFC3-56CD-C9D2-DF4D-CD386586F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635" y="1414964"/>
            <a:ext cx="5803233" cy="484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229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9875520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</a:defRPr>
            </a:pPr>
            <a:r>
              <a:rPr lang="en-US" sz="3200"/>
              <a:t>Business Impact</a:t>
            </a:r>
            <a:endParaRPr lang="en-US" sz="3200">
              <a:ea typeface="Calibri"/>
              <a:cs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89920" y="438912"/>
            <a:ext cx="640080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>
              <a:defRPr sz="1200" b="1">
                <a:solidFill>
                  <a:srgbClr val="48CCD2"/>
                </a:solidFill>
              </a:defRPr>
            </a:pPr>
            <a:r>
              <a:rPr lang="en-US"/>
              <a:t>08</a:t>
            </a: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77240" y="2716065"/>
            <a:ext cx="2468880" cy="1393160"/>
          </a:xfrm>
          <a:prstGeom prst="roundRect">
            <a:avLst/>
          </a:prstGeom>
          <a:solidFill>
            <a:srgbClr val="142841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8408" y="2880657"/>
            <a:ext cx="20665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91D2"/>
                </a:solidFill>
              </a:defRPr>
            </a:pPr>
            <a:r>
              <a:t>SAVE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" y="3374433"/>
            <a:ext cx="206654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E1EBF5"/>
                </a:solidFill>
              </a:defRPr>
            </a:pPr>
            <a:r>
              <a:t>Reduce effort during initial candidate screening.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716065"/>
            <a:ext cx="2468880" cy="1393160"/>
          </a:xfrm>
          <a:prstGeom prst="roundRect">
            <a:avLst/>
          </a:prstGeom>
          <a:solidFill>
            <a:srgbClr val="142841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75887" y="2880657"/>
            <a:ext cx="20665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91D2"/>
                </a:solidFill>
              </a:defRPr>
            </a:pPr>
            <a:r>
              <a:t>PRIORITIZE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75887" y="3374433"/>
            <a:ext cx="206654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E1EBF5"/>
                </a:solidFill>
              </a:defRPr>
            </a:pPr>
            <a:r>
              <a:t>Rank candidates using model probability scores.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716065"/>
            <a:ext cx="2468880" cy="1393160"/>
          </a:xfrm>
          <a:prstGeom prst="roundRect">
            <a:avLst/>
          </a:prstGeom>
          <a:solidFill>
            <a:srgbClr val="142841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73368" y="2880657"/>
            <a:ext cx="20665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91D2"/>
                </a:solidFill>
              </a:defRPr>
            </a:pPr>
            <a:r>
              <a:t>DATA-DRIVEN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3374433"/>
            <a:ext cx="206654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E1EBF5"/>
                </a:solidFill>
              </a:defRPr>
            </a:pPr>
            <a:r>
              <a:t>Provide a measurable screening signal.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2716065"/>
            <a:ext cx="2468880" cy="1393160"/>
          </a:xfrm>
          <a:prstGeom prst="roundRect">
            <a:avLst/>
          </a:prstGeom>
          <a:solidFill>
            <a:srgbClr val="142841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70848" y="2880657"/>
            <a:ext cx="20665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91D2"/>
                </a:solidFill>
              </a:defRPr>
            </a:pPr>
            <a:r>
              <a:t>HUMAN IN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0848" y="3374433"/>
            <a:ext cx="206654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E1EBF5"/>
                </a:solidFill>
              </a:defRPr>
            </a:pPr>
            <a:r>
              <a:t>Support recruiters; final decisions remain human.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A0AFBE"/>
                </a:solidFill>
              </a:defRPr>
            </a:pPr>
            <a:r>
              <a:t>Smart Recruitment Assistant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438912"/>
            <a:ext cx="640080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>
              <a:defRPr sz="1200" b="1">
                <a:solidFill>
                  <a:srgbClr val="48CCD2"/>
                </a:solidFill>
              </a:defRPr>
            </a:pPr>
            <a:r>
              <a:rPr lang="en-US"/>
              <a:t>09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48CCD2"/>
                </a:solidFill>
              </a:defRPr>
            </a:pPr>
            <a:r>
              <a:t>End-to-End Machine Learning Recruitment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3479" y="2240280"/>
            <a:ext cx="11024535" cy="3847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900" b="1">
                <a:solidFill>
                  <a:srgbClr val="F5F8FC"/>
                </a:solidFill>
              </a:defRPr>
            </a:pPr>
            <a:r>
              <a:t>Data  → </a:t>
            </a:r>
            <a:r>
              <a:rPr lang="en-US"/>
              <a:t>EDA → Preprocessing</a:t>
            </a:r>
            <a:r>
              <a:t>  →  </a:t>
            </a:r>
            <a:r>
              <a:rPr lang="en-US"/>
              <a:t>Modeling</a:t>
            </a:r>
            <a:r>
              <a:t> →</a:t>
            </a:r>
            <a:r>
              <a:rPr lang="en-US"/>
              <a:t> Best Model: </a:t>
            </a:r>
            <a:r>
              <a:rPr err="1"/>
              <a:t>XGBoost</a:t>
            </a:r>
            <a:r>
              <a:t>  →</a:t>
            </a:r>
            <a:r>
              <a:rPr lang="en-US"/>
              <a:t> Evaluation → </a:t>
            </a:r>
            <a:r>
              <a:t>Candidate Ranking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617456"/>
            <a:ext cx="2926080" cy="1280160"/>
          </a:xfrm>
          <a:prstGeom prst="roundRect">
            <a:avLst/>
          </a:prstGeom>
          <a:solidFill>
            <a:srgbClr val="142841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98448" y="3782048"/>
            <a:ext cx="2523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8CCD2"/>
                </a:solidFill>
              </a:defRPr>
            </a:pPr>
            <a:r>
              <a:t>BEST ROC-AUC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4275824"/>
            <a:ext cx="2523744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E1EBF5"/>
                </a:solidFill>
              </a:defRPr>
            </a:pPr>
            <a:r>
              <a:t>0.8031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3617456"/>
            <a:ext cx="2926080" cy="1280160"/>
          </a:xfrm>
          <a:prstGeom prst="roundRect">
            <a:avLst/>
          </a:prstGeom>
          <a:solidFill>
            <a:srgbClr val="142841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18888" y="3782048"/>
            <a:ext cx="2523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8CCD2"/>
                </a:solidFill>
              </a:defRPr>
            </a:pPr>
            <a:r>
              <a:t>BEST RECALL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8888" y="4275824"/>
            <a:ext cx="2523744" cy="28469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250" b="0">
                <a:solidFill>
                  <a:srgbClr val="E1EBF5"/>
                </a:solidFill>
              </a:defRPr>
            </a:pPr>
            <a:r>
              <a:rPr lang="en-US"/>
              <a:t>0.8150</a:t>
            </a:r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138160" y="3617456"/>
            <a:ext cx="2926080" cy="1280160"/>
          </a:xfrm>
          <a:prstGeom prst="roundRect">
            <a:avLst/>
          </a:prstGeom>
          <a:solidFill>
            <a:srgbClr val="142841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39328" y="3782048"/>
            <a:ext cx="2523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8CCD2"/>
                </a:solidFill>
              </a:defRPr>
            </a:pPr>
            <a:r>
              <a:t>BEST F1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8" y="4275824"/>
            <a:ext cx="2523744" cy="28469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250" b="0">
                <a:solidFill>
                  <a:srgbClr val="E1EBF5"/>
                </a:solidFill>
              </a:defRPr>
            </a:pPr>
            <a:r>
              <a:rPr lang="en-US"/>
              <a:t>0.8534</a:t>
            </a: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9326" y="56235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48CCD2"/>
                </a:solidFill>
              </a:defRPr>
            </a:pPr>
            <a:r>
              <a:t>Thank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6446" y="6473952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A0AFBE"/>
                </a:solidFill>
              </a:defRPr>
            </a:pPr>
            <a:r>
              <a:t>Smart Recruitment Assistant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Sama</dc:creator>
  <cp:keywords/>
  <dc:description>generated using python-pptx</dc:description>
  <cp:revision>2</cp:revision>
  <dcterms:created xsi:type="dcterms:W3CDTF">2013-01-27T09:14:16Z</dcterms:created>
  <dcterms:modified xsi:type="dcterms:W3CDTF">2026-08-17T18:29:01Z</dcterms:modified>
  <cp:category/>
</cp:coreProperties>
</file>